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6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19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831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Shopping Trends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94360" y="21762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AAB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Insights Report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0" y="2633472"/>
            <a:ext cx="402336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761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Data Science — Capstone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4015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6210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Nebula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40599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Jain   ·   Kapish Garg   ·   Bhavya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1417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Retailers have data.</a:t>
            </a:r>
            <a:endParaRPr lang="en-US" sz="3400" dirty="0"/>
          </a:p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have no idea what to do with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84632" y="1600200"/>
            <a:ext cx="822960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8328" y="1901952"/>
            <a:ext cx="2743200" cy="2578608"/>
          </a:xfrm>
          <a:prstGeom prst="rect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54864" cy="2578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0936" y="201168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actually buying?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2359152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exist, and what truly drives their purchase decisions?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27832" y="1901952"/>
            <a:ext cx="2743200" cy="2578608"/>
          </a:xfrm>
          <a:prstGeom prst="rect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10712" y="1901952"/>
            <a:ext cx="54864" cy="2578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38728" y="201168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revenue?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8728" y="2359152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and items generate the most income — and is that position sustainable?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0488" y="1901952"/>
            <a:ext cx="2743200" cy="2578608"/>
          </a:xfrm>
          <a:prstGeom prst="rect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18504" y="1901952"/>
            <a:ext cx="54864" cy="2578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discounts work?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359152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promos actually lifting basket size, or just giving away margin on purchases that would happen anyway?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turn 3,901 transaction records into clear, actionable business intelligence.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48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was a mess. Here's what we fixed.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36576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103120" cy="841248"/>
          </a:xfrm>
          <a:prstGeom prst="rect">
            <a:avLst/>
          </a:prstGeom>
          <a:solidFill>
            <a:srgbClr val="F5F0E8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41832"/>
            <a:ext cx="210312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3,901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373429"/>
            <a:ext cx="2103120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856232"/>
            <a:ext cx="2103120" cy="841248"/>
          </a:xfrm>
          <a:prstGeom prst="rect">
            <a:avLst/>
          </a:prstGeom>
          <a:solidFill>
            <a:srgbClr val="F5F0E8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1480" y="1929384"/>
            <a:ext cx="210312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360981"/>
            <a:ext cx="2103120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Dropped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843784"/>
            <a:ext cx="2103120" cy="841248"/>
          </a:xfrm>
          <a:prstGeom prst="rect">
            <a:avLst/>
          </a:prstGeom>
          <a:solidFill>
            <a:srgbClr val="F5F0E8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916936"/>
            <a:ext cx="210312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3348533"/>
            <a:ext cx="2103120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831336"/>
            <a:ext cx="2103120" cy="841248"/>
          </a:xfrm>
          <a:prstGeom prst="rect">
            <a:avLst/>
          </a:prstGeom>
          <a:solidFill>
            <a:srgbClr val="F5F0E8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904488"/>
            <a:ext cx="210312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4336085"/>
            <a:ext cx="2103120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Left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97480" y="841248"/>
            <a:ext cx="6035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697480" y="841248"/>
            <a:ext cx="54864" cy="8595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25496" y="932688"/>
            <a:ext cx="5833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Missing values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25496" y="1225296"/>
            <a:ext cx="5833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rows dropped across 4 columns. Only 1.5% of the dataset — a clean cut with no meaningful data loss.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97480" y="1828800"/>
            <a:ext cx="6035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697480" y="1828800"/>
            <a:ext cx="54864" cy="8595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25496" y="1920240"/>
            <a:ext cx="5833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Gender labels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25496" y="2212848"/>
            <a:ext cx="5833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different spellings of Male and Female (e.g. 'FEMALE', 'F', ' female') mapped to two clean labels.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97480" y="2816352"/>
            <a:ext cx="6035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97480" y="2816352"/>
            <a:ext cx="54864" cy="8595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25496" y="2907792"/>
            <a:ext cx="5833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Shipping types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25496" y="3200400"/>
            <a:ext cx="5833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chaotic variants collapsed into 6 clear, consistent options using regex and manual mapping.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97480" y="3803904"/>
            <a:ext cx="6035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697480" y="3803904"/>
            <a:ext cx="54864" cy="85953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825496" y="3895344"/>
            <a:ext cx="5833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Payment methods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25496" y="4187952"/>
            <a:ext cx="5833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spellings unified into 6 types. 'Credit-Card', 'CreditCard', 'credit card' — all the same, now treated as one.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97480" y="4636008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features engineered after cleaning:  Age_Group  ·  Spending_Tier  ·  Used_Any_Discount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48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3749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Clothing isn't just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winning. It's in a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league.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21762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at $122K — nearly double Accessories and Footwear combined.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883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and Footwear neck and neck at ~$64K each.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at $35K — less than 30% of Clothing revenue.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backbone of the business — generating nearly double the revenue of the next category.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E7D565-B679-7109-B7D6-F7F8AD7AF4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1622"/>
          <a:stretch>
            <a:fillRect/>
          </a:stretch>
        </p:blipFill>
        <p:spPr>
          <a:xfrm>
            <a:off x="4023360" y="622214"/>
            <a:ext cx="4709160" cy="3833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48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43366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bestsellers cut across every category.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114139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34 units separate #1 from #10 — demand is remarkably flat. No single item dominates, so inventory risk spreads evenly. Footwear holds 3 of the top 5 spots; Clothing fills the rest.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11480" y="2308861"/>
            <a:ext cx="35661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2297430"/>
            <a:ext cx="54864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9496" y="229743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 leads at 208 units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9496" y="2534496"/>
            <a:ext cx="3364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item outsells the 10th by only 34 units. No concentration risk, but broad category coverage is critical.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3456432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28361" y="3456432"/>
            <a:ext cx="54864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9496" y="3476328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+ Clothing = top 10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12064" y="3730752"/>
            <a:ext cx="33649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bestsellers come from just two categories — invest in both, not just the revenue leader.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405AD-4113-C611-F1A6-343A8E2BD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877592"/>
            <a:ext cx="4924907" cy="3154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6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5396"/>
            <a:ext cx="8229600" cy="11116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demographic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spends almost exactly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same.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411480" y="4370832"/>
            <a:ext cx="8321040" cy="438912"/>
          </a:xfrm>
          <a:prstGeom prst="rect">
            <a:avLst/>
          </a:prstGeom>
          <a:solidFill>
            <a:srgbClr val="EAF4F4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94360" y="439826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finding:  </a:t>
            </a:r>
            <a:r>
              <a:rPr lang="en-US" sz="12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65-year-old and an 18-year-old contribute the same ~$73 per transaction. Age-based or gender-based targeting is unlikely to yield meaningful revenue differences.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ED665A-15B5-7E27-156E-1F7897098B35}"/>
              </a:ext>
            </a:extLst>
          </p:cNvPr>
          <p:cNvSpPr txBox="1"/>
          <p:nvPr/>
        </p:nvSpPr>
        <p:spPr>
          <a:xfrm>
            <a:off x="6432885" y="548015"/>
            <a:ext cx="134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Gender Split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5C98E0-D0BF-C70B-EAEE-431B27F67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0" y="1632884"/>
            <a:ext cx="5133475" cy="2739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DEC626-BAA2-4D72-549E-8D3924017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959" y="457200"/>
            <a:ext cx="3361237" cy="35801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E7E71C-98A4-8AE5-F81B-79D62B5163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91"/>
          <a:stretch>
            <a:fillRect/>
          </a:stretch>
        </p:blipFill>
        <p:spPr>
          <a:xfrm>
            <a:off x="414872" y="1512228"/>
            <a:ext cx="5087755" cy="2806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48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trends &amp; discounts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Discounts cut margin.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hesitation.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7086600" y="1261872"/>
            <a:ext cx="164592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7251030" y="1587399"/>
            <a:ext cx="1481489" cy="841248"/>
          </a:xfrm>
          <a:prstGeom prst="rect">
            <a:avLst/>
          </a:prstGeom>
          <a:solidFill>
            <a:srgbClr val="F5F0E8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086600" y="1712671"/>
            <a:ext cx="1645920" cy="462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~Equal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146757" y="2069119"/>
            <a:ext cx="1645920" cy="2944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seasonal curves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251029" y="2676449"/>
            <a:ext cx="1481490" cy="804672"/>
          </a:xfrm>
          <a:prstGeom prst="rect">
            <a:avLst/>
          </a:prstGeom>
          <a:solidFill>
            <a:srgbClr val="F5F0E8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116678" y="2728051"/>
            <a:ext cx="1645920" cy="442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116678" y="3095701"/>
            <a:ext cx="164592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+ Fall share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11479" y="4281631"/>
            <a:ext cx="8321040" cy="402336"/>
          </a:xfrm>
          <a:prstGeom prst="rect">
            <a:avLst/>
          </a:prstGeom>
          <a:solidFill>
            <a:srgbClr val="FDECEA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48640" y="432678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Customers who used a discount shopped LESS on average — discounts are rewarding decisions already made, not creating new ones.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FC9B3D-B2BA-D3C5-CE12-0D24D029B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53" y="1496672"/>
            <a:ext cx="2716731" cy="23696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571FBAE-D734-6C0D-505C-1B9C526C9D9D}"/>
              </a:ext>
            </a:extLst>
          </p:cNvPr>
          <p:cNvSpPr txBox="1"/>
          <p:nvPr/>
        </p:nvSpPr>
        <p:spPr>
          <a:xfrm>
            <a:off x="-524179" y="1261872"/>
            <a:ext cx="47352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200" b="0" i="0" u="none" strike="noStrike" kern="1200" baseline="0">
                <a:solidFill>
                  <a:srgbClr val="0D3B6E"/>
                </a:solidFill>
                <a:latin typeface="Arial"/>
                <a:ea typeface="+mn-ea"/>
                <a:cs typeface="+mn-cs"/>
              </a:defRPr>
            </a:pPr>
            <a:r>
              <a:rPr lang="en-IN" sz="1200" b="0" i="0" u="none" strike="noStrike" dirty="0">
                <a:solidFill>
                  <a:srgbClr val="0D3B6E"/>
                </a:solidFill>
                <a:latin typeface="Arial"/>
              </a:rPr>
              <a:t>Transactions by Season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882EA44-E162-2811-3F41-1B205583B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050" y="1245776"/>
            <a:ext cx="3728708" cy="2698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C83AB6-DDDF-010A-0445-33F26D0A31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637"/>
          <a:stretch>
            <a:fillRect/>
          </a:stretch>
        </p:blipFill>
        <p:spPr>
          <a:xfrm>
            <a:off x="428126" y="1161288"/>
            <a:ext cx="2830618" cy="28209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CED5E9B-AD38-6746-316B-47E91FFBA0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47"/>
          <a:stretch>
            <a:fillRect/>
          </a:stretch>
        </p:blipFill>
        <p:spPr>
          <a:xfrm>
            <a:off x="3418049" y="1240625"/>
            <a:ext cx="3728708" cy="26980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48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full distributions reveal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8321040" cy="749808"/>
          </a:xfrm>
          <a:prstGeom prst="rect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7955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KDE?  </a:t>
            </a:r>
            <a:r>
              <a:rPr lang="en-US" sz="12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shows raw counts. KDE smooths those bars into a probability curve — showing the true shape of the data. When two groups' curves overlap perfectly, their behaviour is statistically identical — not just similar in average.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2752344" cy="3063240"/>
          </a:xfrm>
          <a:prstGeom prst="rect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54864" cy="3063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" y="1801368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12 — Gender vs Spend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" y="2054352"/>
            <a:ext cx="24871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&amp; Female spending curves overlap almost perfectly. Gender is NOT a spending predictor. The distributions aren't just similar in average — they are identical in shape across the entire range.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1691640"/>
            <a:ext cx="2743200" cy="3063240"/>
          </a:xfrm>
          <a:prstGeom prst="rect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19272" y="1691640"/>
            <a:ext cx="54864" cy="3063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47288" y="1801368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13 — Age by Category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023872"/>
            <a:ext cx="2487168" cy="1085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category curves spread evenly across ages 18–70. No category skews sharply young or old. Outerwear shows a very slight 35–50 lean — worth monitoring, but a subtle signal, not a rule.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91640"/>
            <a:ext cx="2743200" cy="3063240"/>
          </a:xfrm>
          <a:prstGeom prst="rect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27064" y="1691640"/>
            <a:ext cx="45719" cy="3063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801368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14 — Season vs Spend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988820"/>
            <a:ext cx="2487168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Spring, Summer, Fall, Winter — all four seasonal spending curves sit on top of each other. Price range is genuinely season-neutral. No seasonal pricing adjustments are needed or justified.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EBCFBD-65FC-2975-0094-D33B329C0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3183636"/>
            <a:ext cx="2487168" cy="13944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5055D9-9B67-C23D-47C8-1A4CD9214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974" y="3183636"/>
            <a:ext cx="2536659" cy="13136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7EEAA9A-F18C-52B5-D5AB-DBA13217D5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070" y="3183636"/>
            <a:ext cx="2616339" cy="12664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E203091-6109-CF8B-4BFA-1FC593D091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59" y="3183635"/>
            <a:ext cx="2487168" cy="138684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3FAE27A-A18C-070A-D74C-9A7DDC527E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1537" y="3183636"/>
            <a:ext cx="2565096" cy="13136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BF0FD5A-CCC8-6ECE-1D95-71035C17FF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069" y="3183635"/>
            <a:ext cx="2616339" cy="12867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48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3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actually says.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8321040" cy="36576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40233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54864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" y="93268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dominates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9496" y="1225296"/>
            <a:ext cx="38221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of total revenue. Any disruption — stock-outs, quality issues, pricing changes — has outsized consequences for the whole business.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0233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841248"/>
            <a:ext cx="54864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45736" y="93268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are irrelevant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45736" y="1225296"/>
            <a:ext cx="38221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gender show zero meaningful correlation with spend. A 65-year-old and an 18-year-old contribute identical value per transaction (~$73).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331720"/>
            <a:ext cx="40233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331720"/>
            <a:ext cx="54864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" y="242316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hurt margin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" y="2715768"/>
            <a:ext cx="38221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users spend LESS on average. Promos currently reward purchases that would have happened anyway — a textbook margin giveaway.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331720"/>
            <a:ext cx="402336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2331720"/>
            <a:ext cx="54864" cy="13533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45736" y="242316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is flat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45736" y="2715768"/>
            <a:ext cx="38221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season dominates. Spring and Fall carry a slight consistent edge — a natural campaign window, not a dramatic spike to plan inventory around.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753612"/>
            <a:ext cx="832104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0624" y="3753612"/>
            <a:ext cx="45720" cy="13304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9496" y="391363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beats demographics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" y="4206240"/>
            <a:ext cx="81198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frequency, subscription status, and category affinity are far stronger predictors of customer lifetime value than age or gender will ever be.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48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worth doing.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thing worth stopping.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D8E0E8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475488" cy="153619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47548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86968" y="1298448"/>
            <a:ext cx="36576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14984" y="140817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Clothing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4984" y="1700784"/>
            <a:ext cx="34015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revenue, most consistent demand. Prioritise inventory depth, seasonal variants, and prominent digital placement. A stock-out in Clothing affects the entire business.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298448"/>
            <a:ext cx="475488" cy="153619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298448"/>
            <a:ext cx="47548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93208" y="1298448"/>
            <a:ext cx="36576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21224" y="140817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Discounts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21224" y="1700784"/>
            <a:ext cx="34015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flat-rate discounts with basket-size thresholds — e.g. 15% off orders above $90. Converts a margin cost into an actual growth lever that incentivises bigger spends.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475488" cy="153619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017520"/>
            <a:ext cx="47548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86968" y="3017520"/>
            <a:ext cx="36576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14984" y="312724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Segments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14984" y="3419856"/>
            <a:ext cx="34015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customer segments around purchase frequency, subscription status, and category affinity. These predict lifetime value far better than age or gender ever will.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017520"/>
            <a:ext cx="475488" cy="153619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17720" y="3017520"/>
            <a:ext cx="475488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093208" y="3017520"/>
            <a:ext cx="36576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21224" y="312724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Demographic Targeting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21224" y="3419856"/>
            <a:ext cx="34015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budget away from age/gender campaigns. The data is clear: spending does not vary by demographic. Redirect spend into retention and frequency programs.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548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3931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 customers.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Untapped potential.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434840" y="672574"/>
            <a:ext cx="4297680" cy="3670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base is healthy — spending evenly across ages, genders, categories, and seasons. No golden demographic to chase, no single season to bet everything 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confirms these patterns aren’t flukes in the averages. The full distributions overlap. The consistency is real.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lies in depth: higher purchase frequency, bigger baskets, stronger loyalty.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8C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ML clustering for behavioural personas; predictive modelling for churn risk and lifetime value.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755648"/>
            <a:ext cx="3840480" cy="502920"/>
          </a:xfrm>
          <a:prstGeom prst="rect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protect 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377440"/>
            <a:ext cx="3840480" cy="502920"/>
          </a:xfrm>
          <a:prstGeom prst="rect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45059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redesign them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999232"/>
            <a:ext cx="3840480" cy="502920"/>
          </a:xfrm>
          <a:prstGeom prst="rect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07238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stop targeting them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621024"/>
            <a:ext cx="3840480" cy="502920"/>
          </a:xfrm>
          <a:prstGeom prst="rect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6941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start targeting this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4315968"/>
            <a:ext cx="8321040" cy="530352"/>
          </a:xfrm>
          <a:prstGeom prst="rect">
            <a:avLst/>
          </a:prstGeom>
          <a:solidFill>
            <a:srgbClr val="152B45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3434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opportunity lies in converting consistency into depth — more frequent purchases, higher basket sizes, stronger retention.”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84632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Nebula   ·   Vansh Jain   ·   Kapish Garg   ·   Bhavya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1880</TotalTime>
  <Words>1136</Words>
  <Application>Microsoft Macintosh PowerPoint</Application>
  <PresentationFormat>On-screen Show (16:9)</PresentationFormat>
  <Paragraphs>129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Shopping Trends Analysis — Team Nebula</dc:title>
  <dc:subject>PptxGenJS Presentation</dc:subject>
  <dc:creator>PptxGenJS</dc:creator>
  <cp:lastModifiedBy>Kapish garg</cp:lastModifiedBy>
  <cp:revision>6</cp:revision>
  <dcterms:created xsi:type="dcterms:W3CDTF">2026-04-26T11:47:23Z</dcterms:created>
  <dcterms:modified xsi:type="dcterms:W3CDTF">2026-05-06T04:14:33Z</dcterms:modified>
</cp:coreProperties>
</file>